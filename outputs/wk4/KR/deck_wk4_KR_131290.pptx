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A5F"/>
                </a:solidFill>
                <a:latin typeface="맑은 고딕"/>
              </a:rPr>
              <a:t>티에스이 (131290)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4577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맑은 고딕"/>
              </a:rPr>
              <a:t>4주차 · 한국 (KOSPI / KOSDAQ)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2026-09-21 시가 매수 → 2026-09-23 종가 매도</a:t>
            </a:r>
          </a:p>
          <a:p/>
          <a:p>
            <a:r>
              <a:rPr sz="1800" b="0">
                <a:solidFill>
                  <a:srgbClr val="000000"/>
                </a:solidFill>
                <a:latin typeface="맑은 고딕"/>
              </a:rPr>
              <a:t>주간 수익률   18.69%      벤치마크(KOSPI) 2.05%</a:t>
            </a:r>
          </a:p>
          <a:p>
            <a:r>
              <a:rPr sz="1800" b="0">
                <a:solidFill>
                  <a:srgbClr val="000000"/>
                </a:solidFill>
                <a:latin typeface="맑은 고딕"/>
              </a:rPr>
              <a:t>초과수익      16.63%p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5457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wk4 · 한국 (KOSPI / KOSDAQ) · 티에스이(131290)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파이프라인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wk4 · 한국 (KOSPI / KOSDAQ) · 티에스이(131290)          2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맑은 고딕"/>
              </a:rPr>
              <a:t>• Step 1 — 스크리닝 (LLM 호출 없음)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 가격·거래대금 데이터로 전종목을 걸러 후보 20종목 확정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 유동성 → 시가총액 → 중기 모멘텀+단기 반전 → 변동성 정렬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Step 2 — Analyst (LLM + 웹 검색) : 20종목 → 3종목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 뉴스·공시로 검증해 탈락시키는 단계. 선택은 하지 않는다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Step 3 — Bull → Bear → Trader (LLM) : 3종목 → 1종목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 매수 논거 구성 → 반박(동의 금지 강제) → 비교 후 최종 선택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각 단계는 이전 단계의 '응답 텍스트'만 받는다 (대화 히스토리 누적 금지).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Bear가 Bull과 같은 맥락에 있으면 반박하지 않고 동조하기 때문이다.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LLM에게 '오를 종목을 추천해줘'라고 묻지 않는다. 후보는 기계적으로 먼저 확정하고, LLM은 그 안에서만 탈락·선택한다.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사용 모델 및 프롬프트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wk4 · 한국 (KOSPI / KOSDAQ) · 티에스이(131290)          3 /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1153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/>
                <a:gridCol w="2182307"/>
                <a:gridCol w="2182307"/>
                <a:gridCol w="2182307"/>
                <a:gridCol w="2182307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웹 검색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입력 토큰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출력 토큰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analyst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claude-sonnet-5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106,619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18,199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bull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claude-sonnet-5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미사용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7,022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5,812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bear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claude-sonnet-5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514,270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18,268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trader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claude-sonnet-5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미사용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15,104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3,517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프롬프트 버전 v2 · 스크리닝 설정 3 · 실행 모드 auto   |   프롬프트 전문은 제출 문서 참조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Step 1 — 기계적 스크리닝 결과 (상위 10 / 20종목)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wk4 · 한국 (KOSPI / KOSDAQ) · 티에스이(131290)          4 / 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88720"/>
          <a:ext cx="10911535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589"/>
                <a:gridCol w="1818589"/>
                <a:gridCol w="1818589"/>
                <a:gridCol w="1818589"/>
                <a:gridCol w="1818589"/>
                <a:gridCol w="1818590"/>
              </a:tblGrid>
              <a:tr h="29260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티커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종목명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6개월 모멘텀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5일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ATR20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002990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금호건설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+176%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440110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파두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-10.9%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131290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티에스이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+141%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★ 선택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322000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HD현대에너지솔루션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+57%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317400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자이에스앤디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+105%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-11.4%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095610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테스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064290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인텍플러스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+105%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010060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OCI홀딩스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178320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서진시스템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036930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주성엔지니어링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+221%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-2.1%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맑은 고딕"/>
                        </a:rPr>
                        <a:t>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85216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기준일 2026-09-18 종가 · 후보 20종목 → Analyst가 3종목으로 압축 → Trader가 1종목 선택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티에스이 — 선정 근거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wk4 · 한국 (KOSPI / KOSDAQ) · 티에스이(131290)          5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맑은 고딕"/>
              </a:rPr>
              <a:t>• 2026-09-21 전후 관세청 9월 1~20일 수출입 동향 발표에서 반도체 수출 서프라이즈 시 최근 5일 -6.7% 조정을 받은 반도체 장비주의 낙폭과대 반등 가능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1분기 매출+81%/영업이익+1247% 서프라이즈와 프로브카드 수주잔고 증가 스토리가 아직 3분기 실적으로 확정 반영되지 않은 상태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매도 측 반박이 밸류에이션(판단 제외 대상)과 인과관계 추정에 머물러, 저스템·예스티와 달리 구체적 오버행·소송 리스크가 확인되지 않음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Catalyst : 2026-09-21(월) 전후 관세청 '9월 1~20일 수출입 동향' 발표(반도체 수출 증가율 서프라이즈 여부)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출처: Trader 단계 구조화 출력(pick.json)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Bull vs Bear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wk4 · 한국 (KOSPI / KOSDAQ) · 티에스이(131290)          6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814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C0392B"/>
                </a:solidFill>
                <a:latin typeface="맑은 고딕"/>
              </a:rPr>
              <a:t>매수 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5181447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맑은 고딕"/>
              </a:rPr>
              <a:t>• 관세청이 매월 21일 전후로 발표하는 "월 1~20일 수출입 현황" 잠정치에서 반도체 수출 증가율이 시장 예상치를 상회할 경우, 최근 5일간 -6.7% 조정을 받은 반도체 장비·부품주 전반이 낙폭과대 인식과 함께…</a:t>
            </a:r>
          </a:p>
          <a:p>
            <a:r>
              <a:rPr sz="1300" b="0">
                <a:solidFill>
                  <a:srgbClr val="000000"/>
                </a:solidFill>
                <a:latin typeface="맑은 고딕"/>
              </a:rPr>
              <a:t>• 날짜/이벤트: 2026-09-21(월) 관세청 "9월 1~20일 수출입 동향" 발표 — 확인됨(매월 21일 전후 정기 발표되는 관행) / 추정(2026년 실제 발표일시·수치, 통상 오전~오후 사이 배포) 보조 트리…</a:t>
            </a:r>
          </a:p>
          <a:p>
            <a:r>
              <a:rPr sz="1300" b="0">
                <a:solidFill>
                  <a:srgbClr val="000000"/>
                </a:solidFill>
                <a:latin typeface="맑은 고딕"/>
              </a:rPr>
              <a:t>• 5일수익률 -6.7%, 20일수익률 +9.5%로 7월 실적 서프라이즈 이후 형성된 상승분이 최근 되돌림을 겪고 있다는 점은 가격 데이터로 확인됨. 3분기 실적(프로브카드 수주잔고 증가에 따른 매출 확대 전망)은 발…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78727" y="1188720"/>
            <a:ext cx="518144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D4ED8"/>
                </a:solidFill>
                <a:latin typeface="맑은 고딕"/>
              </a:rPr>
              <a:t>매도 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691640"/>
            <a:ext cx="5181447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000000"/>
                </a:solidFill>
                <a:latin typeface="맑은 고딕"/>
              </a:rPr>
              <a:t>• (추출 실패 — responses/bear.md 참조)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6개월 일봉 · 기술적 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wk4 · 한국 (KOSPI / KOSDAQ) · 티에스이(131290)          7 / 8</a:t>
            </a:r>
          </a:p>
        </p:txBody>
      </p:sp>
      <p:pic>
        <p:nvPicPr>
          <p:cNvPr id="4" name="Picture 3" descr="chart_1312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43000"/>
            <a:ext cx="9814255" cy="58415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15000"/>
            <a:ext cx="107286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맑은 고딕"/>
              </a:rPr>
              <a:t>6개월 모멘텀(최근 1개월 제외) +141.3%  ·  20일 +9.5%  ·  5일 -6.7%  ·  52주 고점 대비 -23.7%  ·  ATR20/종가 10.4%</a:t>
            </a:r>
          </a:p>
          <a:p>
            <a:r>
              <a:rPr sz="1200" b="0">
                <a:solidFill>
                  <a:srgbClr val="6B7280"/>
                </a:solidFill>
                <a:latin typeface="맑은 고딕"/>
              </a:rPr>
              <a:t>음영 = 평가 구간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맑은 고딕"/>
              </a:rPr>
              <a:t>사후 검증 — 예측 대비 실제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0936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B7280"/>
                </a:solidFill>
                <a:latin typeface="맑은 고딕"/>
              </a:rPr>
              <a:t>wk4 · 한국 (KOSPI / KOSDAQ) · 티에스이(131290)          8 /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286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000000"/>
                </a:solidFill>
                <a:latin typeface="맑은 고딕"/>
              </a:rPr>
              <a:t>• 실제 18.69% vs 예측 -5~10% → 예측 범위 이탈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벤치마크 KOSPI 2.05% → 초과수익 16.63%p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예상했던 최대 리스크 : 지표가 기존 기저효과 대비 예상 부합 수준에 그쳐 반등 모멘텀이 발생하지 않고, 기존 상승분에 대한 차익실현이 지속될 위험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• 무엇이 맞고 무엇이 틀렸는지 한 줄로 :</a:t>
            </a:r>
          </a:p>
          <a:p>
            <a:r>
              <a:rPr sz="1500" b="0">
                <a:solidFill>
                  <a:srgbClr val="000000"/>
                </a:solidFill>
                <a:latin typeface="맑은 고딕"/>
              </a:rPr>
              <a:t>  (직접 작성)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0644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맑은 고딕"/>
              </a:rPr>
              <a:t>주차별 기록은 log.csv에 누적된다. 학기말 hit rate 분석의 원자료다.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