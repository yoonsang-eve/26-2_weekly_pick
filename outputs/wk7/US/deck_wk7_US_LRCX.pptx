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5F"/>
                </a:solidFill>
                <a:latin typeface="맑은 고딕"/>
              </a:rPr>
              <a:t>Lam Research (LRCX)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457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맑은 고딕"/>
              </a:rPr>
              <a:t>7주차 · 미국 (S&amp;P 500 + Nasdaq 100)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2026-10-12 시가 매수 → 2026-10-16 종가 매도</a:t>
            </a:r>
          </a:p>
          <a:p/>
          <a:p>
            <a:r>
              <a:rPr sz="1800" b="0">
                <a:solidFill>
                  <a:srgbClr val="000000"/>
                </a:solidFill>
                <a:latin typeface="맑은 고딕"/>
              </a:rPr>
              <a:t>주간 수익률   -16.17%      벤치마크(S&amp;P500) -1.97%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초과수익      -14.2%p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wk7 · 미국 (S&amp;P 500 + Nasdaq 100) · Lam Research(LRCX)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파이프라인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wk7 · 미국 (S&amp;P 500 + Nasdaq 100) · Lam Research(LRCX)          2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맑은 고딕"/>
              </a:rPr>
              <a:t>• Step 1 — 스크리닝 (LLM 호출 없음)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가격·거래대금 데이터로 전종목을 걸러 후보 20종목 확정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유동성 → 시가총액 → 중기 모멘텀+단기 반전 → 변동성 정렬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Step 2 — Analyst (LLM + 웹 검색) : 20종목 → 3종목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뉴스·공시로 검증해 탈락시키는 단계. 선택은 하지 않는다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Step 3 — Bull → Bear → Trader (LLM) : 3종목 → 1종목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매수 논거 구성 → 반박(동의 금지 강제) → 비교 후 최종 선택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Step 4 — Selector (LLM + 웹 검색) : 한국 추천 vs 미국 추천 → 이번 주 1종목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각 시장 파이프라인의 결과물만 비교한다. 탈락한 후보는 넣지 않는다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각 단계는 이전 단계의 '응답 텍스트'만 받는다 (대화 히스토리 누적 금지).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Bear가 Bull과 같은 맥락에 있으면 반박하지 않고 동조하기 때문이다.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LLM에게 '오를 종목을 추천해줘'라고 묻지 않는다. 후보는 기계적으로 먼저 확정하고, LLM은 그 안에서만 탈락·선택한다.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사용 모델 및 프롬프트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wk7 · 미국 (S&amp;P 500 + Nasdaq 100) · Lam Research(LRCX)          3 /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1153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웹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입력 토큰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출력 토큰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claude-sonnet-5-5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473,697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18,325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claude-sonnet-5-5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미사용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8,982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5,516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claude-sonnet-5-5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159,642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18,390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trader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claude-sonnet-5-5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미사용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17,738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2,700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프롬프트 버전 v3 · 스크리닝 설정 3 · 실행 모드 auto   |   프롬프트 전문은 제출 문서 참조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Step 1 — 기계적 스크리닝 결과 (상위 10 / 20종목)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wk7 · 미국 (S&amp;P 500 + Nasdaq 100) · Lam Research(LRCX)          4 /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11535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589"/>
                <a:gridCol w="1818589"/>
                <a:gridCol w="1818589"/>
                <a:gridCol w="1818589"/>
                <a:gridCol w="1818589"/>
                <a:gridCol w="181859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티커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종목명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6개월 모멘텀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ATR20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NBIS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Nebius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ALAB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Astera Labs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+151%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COHR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Coherent Corp.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WDC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Western Digit…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Seagate Techn…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+102%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Arm Holdings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SNDK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Sandisk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+130%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SWKS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Skyworks Solu…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-10.2%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INTC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Intel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+135%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LRCX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Lam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★ 선택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기준일 2026-10-09 종가 · 후보 20종목 → Analyst가 3종목으로 압축 → Trader가 1종목 선택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Lam Research — 선정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wk7 · 미국 (S&amp;P 500 + Nasdaq 100) · Lam Research(LRCX)          5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맑은 고딕"/>
              </a:rPr>
              <a:t>• ASML 실적(10-14 장전, 확정)과 TSMC 콘퍼런스콜(10-15 02:00 ET, 확정)이 장비 수요와 설비투자 가이던스를 직접 확인해 주는 이벤트이며, 둘 다 정규장 개장 전에 나와 5영업일 보유 구간 안에 반영된다.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10-08~09 반도체 급락의 원인은 OpenAI 매출 보도에 따른 AI 심리 악화였고 장비 수요 지표의 악화는 아니었다. 이벤트 전에 5일 -8.2% 조정이 먼저 진행돼 수요 재확인 시 되돌림 여지가 있다.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매도 측의 반박(CPI 컨센서스 3.6% 대 3.7% 불일치, 기준 종가 불일치, 자체 실적 시각 불일치)은 주변부다. 핵심 catalyst를 무너뜨리지 못했고, 남은 실질 위험은 sell-the-news와 CPI 쇼크 두 가지다.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Catalyst : 2026-10-14 ASML 3분기 실적(장전)과 9월 CPI(08:30 ET), 2026-10-15 TSMC 콘퍼런스콜(02:00 ET, 설비투자 가이던스)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출처: Trader 단계 구조화 출력(pick.json)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Bull vs Bear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wk7 · 미국 (S&amp;P 500 + Nasdaq 100) · Lam Research(LRCX)          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814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C0392B"/>
                </a:solidFill>
                <a:latin typeface="맑은 고딕"/>
              </a:rPr>
              <a:t>매수 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18144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맑은 고딕"/>
              </a:rPr>
              <a:t>• 10-14 ASML 실적에서 수주·가이던스가 견조하게 나온다. 10-15 TSMC가 설비투자 상향이나 유지로 AI 수요를 재확인한다. 장비주가 10-08~09 급락분을 되돌리고, 10-21 자체 실적을 앞둔 선취매…</a:t>
            </a:r>
          </a:p>
          <a:p>
            <a:r>
              <a:rPr sz="1300" b="0">
                <a:solidFill>
                  <a:srgbClr val="000000"/>
                </a:solidFill>
                <a:latin typeface="맑은 고딕"/>
              </a:rPr>
              <a:t>• | 일시 | 이벤트 | 상태 | |---|---|---| | 10-14(수) 08:30 ET | 9월 CPI. 컨센서스는 헤드라인 전월비 +0.6%이고 이보다 낮게 나오면 금리 부담이 완화됨 | 확인됨(2차 출처)…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188720"/>
            <a:ext cx="51814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D4ED8"/>
                </a:solidFill>
                <a:latin typeface="맑은 고딕"/>
              </a:rPr>
              <a:t>매도 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691640"/>
            <a:ext cx="518144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맑은 고딕"/>
              </a:rPr>
              <a:t>• 기준가가 불명확하다: 10-09 종가는 소스마다 다르다. Nemo는 $320.59(-2.71%, 장중 고점 $347.49)로, Earnings Whispers는 $345.80으로 표시한다. 그래서 -5% 선은 $3…</a:t>
            </a:r>
          </a:p>
          <a:p>
            <a:r>
              <a:rPr sz="1300" b="0">
                <a:solidFill>
                  <a:srgbClr val="000000"/>
                </a:solidFill>
                <a:latin typeface="맑은 고딕"/>
              </a:rPr>
              <a:t>• CPI 컨센서스 수치가 소스와 맞지 않는다. 매수 측은 헤드라인 전년비 3.6%, 근원 2.5%라고 썼다. 근원은 Admiral Markets와 클리블랜드 연준 모두 약 2.4%다. 전년비 3.6%는 Investi…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6개월 일봉 · 기술적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wk7 · 미국 (S&amp;P 500 + Nasdaq 100) · Lam Research(LRCX)          7 / 8</a:t>
            </a:r>
          </a:p>
        </p:txBody>
      </p:sp>
      <p:pic>
        <p:nvPicPr>
          <p:cNvPr id="4" name="Picture 3" descr="chart_LRC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43000"/>
            <a:ext cx="9814255" cy="5954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150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맑은 고딕"/>
              </a:rPr>
              <a:t>6개월 모멘텀(최근 1개월 제외) +30.7%  ·  20일 +7.0%  ·  5일 -8.2%  ·  52주 고점 대비 -27.3%  ·  ATR20/종가 4.5%</a:t>
            </a:r>
          </a:p>
          <a:p>
            <a:r>
              <a:rPr sz="1200" b="0">
                <a:solidFill>
                  <a:srgbClr val="6B7280"/>
                </a:solidFill>
                <a:latin typeface="맑은 고딕"/>
              </a:rPr>
              <a:t>음영 = 평가 구간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사후 검증 — 예측 대비 실제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wk7 · 미국 (S&amp;P 500 + Nasdaq 100) · Lam Research(LRCX)          8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맑은 고딕"/>
              </a:rPr>
              <a:t>• 실제 -16.17% vs 예측 -9~10% → 크게 실패 (하단 -9% 대비 -7.2%p)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벤치마크 S&amp;P500 -1.97% → 초과수익 -14.2%p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예상했던 최대 리스크 : 10-14 CPI가 컨센서스를 웃돌아 10년물이 5.3%대 고점을 다시 시험하거나, ASML·TSMC가 기대 수준에 그쳐 sell-the-news로 장비주가 하락 갭(ATR 기준 약 10%)을 보이는 경우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무엇이 맞고 무엇이 틀렸는지 한 줄로 :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(직접 작성)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주차별 기록은 log.csv에 누적된다. 학기말 hit rate 분석의 원자료다.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